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43000"/>
            <a:ext cx="1253172" cy="457200"/>
          </a:xfrm>
          <a:prstGeom prst="roundRect">
            <a:avLst>
              <a:gd name="adj" fmla="val 12500"/>
            </a:avLst>
          </a:prstGeom>
          <a:solidFill>
            <a:srgbClr val="645811"/>
          </a:solidFill>
          <a:ln/>
        </p:spPr>
      </p:sp>
      <p:sp>
        <p:nvSpPr>
          <p:cNvPr id="3" name="Text 1"/>
          <p:cNvSpPr/>
          <p:nvPr/>
        </p:nvSpPr>
        <p:spPr>
          <a:xfrm>
            <a:off x="1333500" y="1143000"/>
            <a:ext cx="9483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7933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Science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48572" y="1143000"/>
            <a:ext cx="1119188" cy="457200"/>
          </a:xfrm>
          <a:prstGeom prst="roundRect">
            <a:avLst>
              <a:gd name="adj" fmla="val 12500"/>
            </a:avLst>
          </a:prstGeom>
          <a:solidFill>
            <a:srgbClr val="202B23"/>
          </a:solidFill>
          <a:ln/>
        </p:spPr>
      </p:sp>
      <p:sp>
        <p:nvSpPr>
          <p:cNvPr id="5" name="Text 3"/>
          <p:cNvSpPr/>
          <p:nvPr/>
        </p:nvSpPr>
        <p:spPr>
          <a:xfrm>
            <a:off x="2739072" y="1143000"/>
            <a:ext cx="81438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7933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Year 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981200"/>
            <a:ext cx="10165409" cy="2049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71"/>
              </a:lnSpc>
              <a:buNone/>
            </a:pPr>
            <a:r>
              <a:rPr lang="en-US" sz="7200" b="1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Evaporation and condensation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143000" y="4373880"/>
            <a:ext cx="10856262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E4E4E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Unit: States of matter · Lesson 3 of 8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686800"/>
            <a:ext cx="337185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0685" y="8801100"/>
            <a:ext cx="293509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33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Oak National Academy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155329" y="0"/>
            <a:ext cx="6132671" cy="10287000"/>
          </a:xfrm>
          <a:prstGeom prst="rect">
            <a:avLst/>
          </a:prstGeom>
          <a:solidFill>
            <a:srgbClr val="2E5338"/>
          </a:solidFill>
          <a:ln/>
        </p:spPr>
      </p:sp>
      <p:sp>
        <p:nvSpPr>
          <p:cNvPr id="11" name="Shape 8"/>
          <p:cNvSpPr/>
          <p:nvPr/>
        </p:nvSpPr>
        <p:spPr>
          <a:xfrm>
            <a:off x="12155329" y="0"/>
            <a:ext cx="36671" cy="1028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0" y="2818606"/>
            <a:ext cx="3429000" cy="46496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801904"/>
            <a:ext cx="2814638" cy="73343"/>
          </a:xfrm>
          <a:prstGeom prst="rect">
            <a:avLst/>
          </a:prstGeom>
          <a:solidFill>
            <a:srgbClr val="FFE55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3382804"/>
            <a:ext cx="289907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24"/>
              </a:lnSpc>
              <a:buNone/>
            </a:pPr>
            <a:r>
              <a:rPr lang="en-US" sz="2400" b="1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Learning outcome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4332446"/>
            <a:ext cx="13342620" cy="2609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778"/>
              </a:lnSpc>
              <a:buNone/>
            </a:pPr>
            <a:r>
              <a:rPr lang="en-US" sz="5400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 can describe how water </a:t>
            </a:r>
            <a:pPr algn="l" indent="0" marL="0">
              <a:lnSpc>
                <a:spcPct val="99778"/>
              </a:lnSpc>
              <a:buNone/>
            </a:pPr>
            <a:r>
              <a:rPr lang="en-US" sz="5400" spc="14" kern="0" dirty="0">
                <a:solidFill>
                  <a:srgbClr val="FFFFFF"/>
                </a:solidFill>
                <a:highlight>
                  <a:srgbClr val="49421A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evaporates </a:t>
            </a:r>
            <a:pPr algn="l" indent="0" marL="0">
              <a:lnSpc>
                <a:spcPct val="99778"/>
              </a:lnSpc>
              <a:buNone/>
            </a:pPr>
            <a:r>
              <a:rPr lang="en-US" sz="5400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and </a:t>
            </a:r>
            <a:pPr algn="l" indent="0" marL="0">
              <a:lnSpc>
                <a:spcPct val="99778"/>
              </a:lnSpc>
              <a:buNone/>
            </a:pPr>
            <a:r>
              <a:rPr lang="en-US" sz="5400" spc="14" kern="0" dirty="0">
                <a:solidFill>
                  <a:srgbClr val="FFFFFF"/>
                </a:solidFill>
                <a:highlight>
                  <a:srgbClr val="49421A"/>
                </a:highlight>
                <a:latin typeface="Lexend" pitchFamily="34" charset="0"/>
                <a:ea typeface="Lexend" pitchFamily="34" charset="-122"/>
                <a:cs typeface="Lexend" pitchFamily="34" charset="-120"/>
              </a:rPr>
              <a:t>condenses </a:t>
            </a:r>
            <a:pPr algn="l" indent="0" marL="0">
              <a:lnSpc>
                <a:spcPct val="99778"/>
              </a:lnSpc>
              <a:buNone/>
            </a:pPr>
            <a:r>
              <a:rPr lang="en-US" sz="5400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and give examples from everyday life.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562100"/>
            <a:ext cx="1498283" cy="73343"/>
          </a:xfrm>
          <a:prstGeom prst="rect">
            <a:avLst/>
          </a:prstGeom>
          <a:solidFill>
            <a:srgbClr val="FFE55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43000"/>
            <a:ext cx="157448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24"/>
              </a:lnSpc>
              <a:buNone/>
            </a:pPr>
            <a:r>
              <a:rPr lang="en-US" sz="2400" b="1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Keywords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43000" y="2092642"/>
            <a:ext cx="7810500" cy="3335179"/>
          </a:xfrm>
          <a:prstGeom prst="roundRect">
            <a:avLst>
              <a:gd name="adj" fmla="val 4569"/>
            </a:avLst>
          </a:prstGeom>
          <a:solidFill>
            <a:srgbClr val="222222"/>
          </a:solidFill>
          <a:ln w="26194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80822" dir="2700000">
              <a:srgbClr val="FFE555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0194" y="2499836"/>
            <a:ext cx="76957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evaporation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50194" y="3033236"/>
            <a:ext cx="769572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When a liquid turns into a gas, without boiling.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334500" y="2092642"/>
            <a:ext cx="7810500" cy="3335179"/>
          </a:xfrm>
          <a:prstGeom prst="roundRect">
            <a:avLst>
              <a:gd name="adj" fmla="val 4569"/>
            </a:avLst>
          </a:prstGeom>
          <a:solidFill>
            <a:srgbClr val="222222"/>
          </a:solidFill>
          <a:ln w="26194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80822" dir="2700000">
              <a:srgbClr val="FFE555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741694" y="2499836"/>
            <a:ext cx="76957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condensation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41694" y="3033236"/>
            <a:ext cx="769572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When a gas cools and turns back into a liquid.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143000" y="5808821"/>
            <a:ext cx="7810500" cy="3335179"/>
          </a:xfrm>
          <a:prstGeom prst="roundRect">
            <a:avLst>
              <a:gd name="adj" fmla="val 4569"/>
            </a:avLst>
          </a:prstGeom>
          <a:solidFill>
            <a:srgbClr val="222222"/>
          </a:solidFill>
          <a:ln w="26194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80822" dir="2700000">
              <a:srgbClr val="FFE555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50194" y="6216015"/>
            <a:ext cx="76957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water vapour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550194" y="6749415"/>
            <a:ext cx="769572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Water when it is a gas, spread out in the air.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0" y="5808821"/>
            <a:ext cx="7810500" cy="3335179"/>
          </a:xfrm>
          <a:prstGeom prst="roundRect">
            <a:avLst>
              <a:gd name="adj" fmla="val 4569"/>
            </a:avLst>
          </a:prstGeom>
          <a:solidFill>
            <a:srgbClr val="222222"/>
          </a:solidFill>
          <a:ln w="26194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80822" dir="2700000">
              <a:srgbClr val="FFE555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41694" y="6216015"/>
            <a:ext cx="769572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state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741694" y="6749415"/>
            <a:ext cx="7695724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Whether something is a solid, a liquid or a gas.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5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3323749"/>
            <a:ext cx="1597342" cy="1597342"/>
          </a:xfrm>
          <a:prstGeom prst="ellipse">
            <a:avLst/>
          </a:prstGeom>
          <a:solidFill>
            <a:srgbClr val="222222"/>
          </a:solidFill>
          <a:ln w="36671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1571" y="3360420"/>
            <a:ext cx="16002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9823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143000" y="5302091"/>
            <a:ext cx="1069194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432"/>
              </a:lnSpc>
              <a:buNone/>
            </a:pPr>
            <a:r>
              <a:rPr lang="en-US" sz="6000" b="1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Where does a puddle go?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143000" y="6521291"/>
            <a:ext cx="9566656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Learning cycle 1 of 2 · Explanation, check, practice, feedback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0000774" cy="62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4200" b="1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sun warms the puddle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1143000" y="2225040"/>
            <a:ext cx="183833" cy="183832"/>
          </a:xfrm>
          <a:prstGeom prst="roundRect">
            <a:avLst>
              <a:gd name="adj" fmla="val 20725"/>
            </a:avLst>
          </a:prstGeom>
          <a:solidFill>
            <a:srgbClr val="FFE555"/>
          </a:solidFill>
          <a:ln w="15716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17333" y="2137886"/>
            <a:ext cx="7067338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Water at the surface gains energy from the sun.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2895600"/>
            <a:ext cx="183833" cy="183833"/>
          </a:xfrm>
          <a:prstGeom prst="roundRect">
            <a:avLst>
              <a:gd name="adj" fmla="val 20725"/>
            </a:avLst>
          </a:prstGeom>
          <a:solidFill>
            <a:srgbClr val="FFE555"/>
          </a:solidFill>
          <a:ln w="15716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17333" y="2808446"/>
            <a:ext cx="8597324" cy="867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Tiny particles escape into the air as water vapour — this is evaporation.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4008120"/>
            <a:ext cx="183833" cy="183833"/>
          </a:xfrm>
          <a:prstGeom prst="roundRect">
            <a:avLst>
              <a:gd name="adj" fmla="val 20725"/>
            </a:avLst>
          </a:prstGeom>
          <a:solidFill>
            <a:srgbClr val="FFE555"/>
          </a:solidFill>
          <a:ln w="15716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17333" y="3920966"/>
            <a:ext cx="6587919" cy="42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Warmer, windier days make it happen faster.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8481060"/>
            <a:ext cx="52388" cy="662940"/>
          </a:xfrm>
          <a:prstGeom prst="rect">
            <a:avLst/>
          </a:prstGeom>
          <a:solidFill>
            <a:srgbClr val="FFE555"/>
          </a:solidFill>
          <a:ln/>
        </p:spPr>
      </p:sp>
      <p:sp>
        <p:nvSpPr>
          <p:cNvPr id="10" name="Text 8"/>
          <p:cNvSpPr/>
          <p:nvPr/>
        </p:nvSpPr>
        <p:spPr>
          <a:xfrm>
            <a:off x="1385888" y="8481060"/>
            <a:ext cx="9121473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41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Misconception: the puddle doesn't soak away or vanish — the water changes state.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996613" y="1143000"/>
            <a:ext cx="6148388" cy="8001000"/>
          </a:xfrm>
          <a:prstGeom prst="roundRect">
            <a:avLst>
              <a:gd name="adj" fmla="val 2479"/>
            </a:avLst>
          </a:prstGeom>
          <a:solidFill>
            <a:srgbClr val="575757"/>
          </a:solidFill>
          <a:ln w="2619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75770" y="4847749"/>
            <a:ext cx="4390072" cy="591503"/>
          </a:xfrm>
          <a:prstGeom prst="roundRect">
            <a:avLst>
              <a:gd name="adj" fmla="val 12882"/>
            </a:avLst>
          </a:prstGeom>
          <a:solidFill>
            <a:srgbClr val="222222"/>
          </a:solidFill>
          <a:ln w="15716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81987" y="4977765"/>
            <a:ext cx="4109342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064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diagram: puddle drying in sun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562100"/>
            <a:ext cx="3825240" cy="73343"/>
          </a:xfrm>
          <a:prstGeom prst="rect">
            <a:avLst/>
          </a:prstGeom>
          <a:solidFill>
            <a:srgbClr val="FFE55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43000"/>
            <a:ext cx="39399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24"/>
              </a:lnSpc>
              <a:buNone/>
            </a:pPr>
            <a:r>
              <a:rPr lang="en-US" sz="2400" b="1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Check for understanding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2092642"/>
            <a:ext cx="1334262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432"/>
              </a:lnSpc>
              <a:buNone/>
            </a:pPr>
            <a:r>
              <a:rPr lang="en-US" sz="4200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Which process turns water vapour back into liquid water?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43000" y="3883343"/>
            <a:ext cx="12192000" cy="1095375"/>
          </a:xfrm>
          <a:prstGeom prst="roundRect">
            <a:avLst>
              <a:gd name="adj" fmla="val 13913"/>
            </a:avLst>
          </a:prstGeom>
          <a:solidFill>
            <a:srgbClr val="222222"/>
          </a:solidFill>
          <a:ln w="2619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73994" y="4138136"/>
            <a:ext cx="585788" cy="585788"/>
          </a:xfrm>
          <a:prstGeom prst="ellipse">
            <a:avLst/>
          </a:prstGeom>
          <a:ln w="26194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2088" y="416433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933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8381" y="4237196"/>
            <a:ext cx="1825307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28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Evaporation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143000" y="5207318"/>
            <a:ext cx="12192000" cy="1095375"/>
          </a:xfrm>
          <a:prstGeom prst="roundRect">
            <a:avLst>
              <a:gd name="adj" fmla="val 13913"/>
            </a:avLst>
          </a:prstGeom>
          <a:solidFill>
            <a:srgbClr val="222222"/>
          </a:solidFill>
          <a:ln w="2619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73994" y="5462111"/>
            <a:ext cx="585788" cy="585788"/>
          </a:xfrm>
          <a:prstGeom prst="ellipse">
            <a:avLst/>
          </a:prstGeom>
          <a:ln w="26194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2088" y="5488305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933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8381" y="5561171"/>
            <a:ext cx="2066290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28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Condensation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43000" y="6531293"/>
            <a:ext cx="12192000" cy="1095375"/>
          </a:xfrm>
          <a:prstGeom prst="roundRect">
            <a:avLst>
              <a:gd name="adj" fmla="val 13913"/>
            </a:avLst>
          </a:prstGeom>
          <a:solidFill>
            <a:srgbClr val="222222"/>
          </a:solidFill>
          <a:ln w="26194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73994" y="6786086"/>
            <a:ext cx="585788" cy="585788"/>
          </a:xfrm>
          <a:prstGeom prst="ellipse">
            <a:avLst/>
          </a:prstGeom>
          <a:ln w="26194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2088" y="681228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79339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8381" y="6885146"/>
            <a:ext cx="1135856" cy="425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828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Melting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8812530"/>
            <a:ext cx="17602200" cy="36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41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Cold call, then reveal — the answer is b.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562100"/>
            <a:ext cx="2014379" cy="73343"/>
          </a:xfrm>
          <a:prstGeom prst="rect">
            <a:avLst/>
          </a:prstGeom>
          <a:solidFill>
            <a:srgbClr val="FFE55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43000"/>
            <a:ext cx="209057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24"/>
              </a:lnSpc>
              <a:buNone/>
            </a:pPr>
            <a:r>
              <a:rPr lang="en-US" sz="2400" b="1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Practice task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2016442"/>
            <a:ext cx="8579501" cy="2324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949"/>
              </a:lnSpc>
              <a:buNone/>
            </a:pPr>
            <a:r>
              <a:rPr lang="en-US" sz="4800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Explain what happens to the water in wet washing on a warm day.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143000" y="4683443"/>
            <a:ext cx="8579501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Write 2–3 sentences. Use the keywords </a:t>
            </a:r>
            <a:pPr algn="l" indent="0" marL="0">
              <a:lnSpc>
                <a:spcPct val="114005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evaporation </a:t>
            </a:r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and </a:t>
            </a:r>
            <a:pPr algn="l" indent="0" marL="0">
              <a:lnSpc>
                <a:spcPct val="114005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water vapour</a:t>
            </a:r>
            <a:pPr algn="l" indent="0" marL="0">
              <a:lnSpc>
                <a:spcPct val="114005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234613" y="3669506"/>
            <a:ext cx="6910388" cy="2947988"/>
          </a:xfrm>
          <a:prstGeom prst="roundRect">
            <a:avLst>
              <a:gd name="adj" fmla="val 5170"/>
            </a:avLst>
          </a:prstGeom>
          <a:solidFill>
            <a:srgbClr val="202B23"/>
          </a:solidFill>
          <a:ln w="26194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80822" dir="2700000">
              <a:srgbClr val="FFE555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41806" y="4076700"/>
            <a:ext cx="67056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24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Success criteria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1806" y="4610100"/>
            <a:ext cx="381000" cy="38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75206" y="4631690"/>
            <a:ext cx="2205355" cy="32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4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 name the process.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1806" y="5219700"/>
            <a:ext cx="38100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175206" y="5241290"/>
            <a:ext cx="3058828" cy="32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4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 say where the water goes.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1806" y="5829300"/>
            <a:ext cx="381000" cy="381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175206" y="5850890"/>
            <a:ext cx="3308348" cy="32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41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 use both keywords correctly.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562100"/>
            <a:ext cx="1492091" cy="73343"/>
          </a:xfrm>
          <a:prstGeom prst="rect">
            <a:avLst/>
          </a:prstGeom>
          <a:solidFill>
            <a:srgbClr val="FFE555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1143000"/>
            <a:ext cx="156829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624"/>
              </a:lnSpc>
              <a:buNone/>
            </a:pPr>
            <a:r>
              <a:rPr lang="en-US" sz="2400" b="1" spc="14" kern="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Summary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30742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127885"/>
            <a:ext cx="1234241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624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Evaporation: liquid water gains energy and becomes water vapour.</a:t>
            </a:r>
            <a:endParaRPr lang="en-US" sz="3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987993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2985135"/>
            <a:ext cx="11281055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624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Condensation: water vapour cools and becomes liquid again.</a:t>
            </a:r>
            <a:endParaRPr lang="en-US" sz="3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45243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828800" y="3842385"/>
            <a:ext cx="12326062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624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Both happen all around us — puddles, washing lines, cold windows.</a:t>
            </a:r>
            <a:endParaRPr lang="en-US" sz="3000" dirty="0"/>
          </a:p>
        </p:txBody>
      </p:sp>
      <p:sp>
        <p:nvSpPr>
          <p:cNvPr id="10" name="Shape 5"/>
          <p:cNvSpPr/>
          <p:nvPr/>
        </p:nvSpPr>
        <p:spPr>
          <a:xfrm>
            <a:off x="1143000" y="8329613"/>
            <a:ext cx="4424997" cy="814388"/>
          </a:xfrm>
          <a:prstGeom prst="roundRect">
            <a:avLst>
              <a:gd name="adj" fmla="val 18713"/>
            </a:avLst>
          </a:prstGeom>
          <a:solidFill>
            <a:srgbClr val="3C3820"/>
          </a:solidFill>
          <a:ln w="26194">
            <a:solidFill>
              <a:srgbClr val="FFFFFF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3994" y="8546306"/>
            <a:ext cx="381000" cy="3810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07394" y="8542973"/>
            <a:ext cx="3326498" cy="425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624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Exit quiz: 5 questions</a:t>
            </a:r>
            <a:endParaRPr lang="en-US" sz="2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86631" y="8546306"/>
            <a:ext cx="280988" cy="3810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20018" y="8592820"/>
            <a:ext cx="3115730" cy="326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339"/>
              </a:lnSpc>
              <a:buNone/>
            </a:pPr>
            <a:r>
              <a:rPr lang="en-US" sz="1800" dirty="0">
                <a:solidFill>
                  <a:srgbClr val="E4E4E4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Next lesson: The water cycle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2026-07-19T14:33:46Z</dcterms:created>
  <dcterms:modified xsi:type="dcterms:W3CDTF">2026-07-19T14:33:46Z</dcterms:modified>
</cp:coreProperties>
</file>